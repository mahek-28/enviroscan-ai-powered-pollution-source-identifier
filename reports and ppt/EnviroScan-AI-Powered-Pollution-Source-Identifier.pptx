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2"/>
  </p:notesMasterIdLst>
  <p:sldIdLst>
    <p:sldId id="256" r:id="rId2"/>
    <p:sldId id="257" r:id="rId3"/>
    <p:sldId id="266" r:id="rId4"/>
    <p:sldId id="261" r:id="rId5"/>
    <p:sldId id="262" r:id="rId6"/>
    <p:sldId id="259" r:id="rId7"/>
    <p:sldId id="260" r:id="rId8"/>
    <p:sldId id="263" r:id="rId9"/>
    <p:sldId id="268" r:id="rId10"/>
    <p:sldId id="267" r:id="rId11"/>
  </p:sldIdLst>
  <p:sldSz cx="14630400" cy="8229600"/>
  <p:notesSz cx="8229600" cy="14630400"/>
  <p:embeddedFontLst>
    <p:embeddedFont>
      <p:font typeface="Century Gothic" panose="020B0502020202020204" pitchFamily="34" charset="0"/>
      <p:regular r:id="rId13"/>
      <p:bold r:id="rId14"/>
      <p:italic r:id="rId15"/>
      <p:boldItalic r:id="rId16"/>
    </p:embeddedFont>
    <p:embeddedFont>
      <p:font typeface="Fraunces Extra Bold" panose="020B0604020202020204" charset="0"/>
      <p:regular r:id="rId17"/>
    </p:embeddedFont>
    <p:embeddedFont>
      <p:font typeface="Nobile" panose="020B0604020202020204" charset="0"/>
      <p:regular r:id="rId18"/>
    </p:embeddedFont>
    <p:embeddedFont>
      <p:font typeface="Wingdings 3" panose="05040102010807070707"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95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8843-F994-1D1C-D6A1-AEDA7BDD7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FCBBF-E6C8-C0D7-1A62-1A243FD570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7022EBC-1F79-6108-DCD7-60DDE0D7CE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884B9A-3EC3-1D4F-B564-8DE0CA6E093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20514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07056" y="3017521"/>
            <a:ext cx="10698479" cy="2715337"/>
          </a:xfrm>
        </p:spPr>
        <p:txBody>
          <a:bodyPr anchor="b">
            <a:normAutofit/>
          </a:bodyPr>
          <a:lstStyle>
            <a:lvl1pPr>
              <a:defRPr sz="6480"/>
            </a:lvl1pPr>
          </a:lstStyle>
          <a:p>
            <a:r>
              <a:rPr lang="en-US"/>
              <a:t>Click to edit Master title style</a:t>
            </a:r>
            <a:endParaRPr lang="en-US" dirty="0"/>
          </a:p>
        </p:txBody>
      </p:sp>
      <p:sp>
        <p:nvSpPr>
          <p:cNvPr id="3" name="Subtitle 2"/>
          <p:cNvSpPr>
            <a:spLocks noGrp="1"/>
          </p:cNvSpPr>
          <p:nvPr>
            <p:ph type="subTitle" idx="1"/>
          </p:nvPr>
        </p:nvSpPr>
        <p:spPr>
          <a:xfrm>
            <a:off x="3107056" y="5732855"/>
            <a:ext cx="10698479" cy="1351540"/>
          </a:xfrm>
        </p:spPr>
        <p:txBody>
          <a:bodyPr anchor="t"/>
          <a:lstStyle>
            <a:lvl1pPr marL="0" indent="0" algn="l">
              <a:buNone/>
              <a:defRPr>
                <a:solidFill>
                  <a:schemeClr val="tx1">
                    <a:lumMod val="65000"/>
                    <a:lumOff val="3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5188573"/>
            <a:ext cx="2093582" cy="934307"/>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638175" y="5435449"/>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727345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11511" y="748932"/>
            <a:ext cx="10694024" cy="1537068"/>
          </a:xfrm>
        </p:spPr>
        <p:txBody>
          <a:bodyPr/>
          <a:lstStyle/>
          <a:p>
            <a:r>
              <a:rPr lang="en-US"/>
              <a:t>Click to edit Master title style</a:t>
            </a:r>
            <a:endParaRPr lang="en-US" dirty="0"/>
          </a:p>
        </p:txBody>
      </p:sp>
      <p:sp>
        <p:nvSpPr>
          <p:cNvPr id="3" name="Content Placeholder 2"/>
          <p:cNvSpPr>
            <a:spLocks noGrp="1"/>
          </p:cNvSpPr>
          <p:nvPr>
            <p:ph idx="1"/>
          </p:nvPr>
        </p:nvSpPr>
        <p:spPr>
          <a:xfrm>
            <a:off x="3107054" y="2560320"/>
            <a:ext cx="10698480" cy="45331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7529780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7055" y="2470500"/>
            <a:ext cx="10698479" cy="1762560"/>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3107055" y="4236155"/>
            <a:ext cx="10698479" cy="1032480"/>
          </a:xfrm>
        </p:spPr>
        <p:txBody>
          <a:bodyPr anchor="t"/>
          <a:lstStyle>
            <a:lvl1pPr marL="0" indent="0" algn="l">
              <a:buNone/>
              <a:defRPr sz="240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638175" y="3892967"/>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629833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107054" y="2560320"/>
            <a:ext cx="5176637" cy="453314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628896" y="2551467"/>
            <a:ext cx="5176637" cy="453314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638175" y="945339"/>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339393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527248" y="2367244"/>
            <a:ext cx="479127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3107055" y="3058759"/>
            <a:ext cx="5211472" cy="40248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007956" y="2363370"/>
            <a:ext cx="4798801"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8600348" y="3054886"/>
            <a:ext cx="5206409" cy="40248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638175" y="945339"/>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2162111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052309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026779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5" y="535306"/>
            <a:ext cx="4206239" cy="1171574"/>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7587614" y="535306"/>
            <a:ext cx="6217920" cy="6497956"/>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07055" y="1918336"/>
            <a:ext cx="4206239" cy="511492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555967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6" y="5760720"/>
            <a:ext cx="1069848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107054" y="761958"/>
            <a:ext cx="10698480" cy="4625964"/>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3107056" y="6440806"/>
            <a:ext cx="10698480"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638175" y="5979705"/>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5413811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5" y="731520"/>
            <a:ext cx="10698479" cy="3740448"/>
          </a:xfrm>
        </p:spPr>
        <p:txBody>
          <a:bodyPr anchor="ctr">
            <a:normAutofit/>
          </a:bodyPr>
          <a:lstStyle>
            <a:lvl1pPr algn="l">
              <a:defRPr sz="5760" b="0" cap="none"/>
            </a:lvl1pPr>
          </a:lstStyle>
          <a:p>
            <a:r>
              <a:rPr lang="en-US"/>
              <a:t>Click to edit Master title style</a:t>
            </a:r>
            <a:endParaRPr lang="en-US" dirty="0"/>
          </a:p>
        </p:txBody>
      </p:sp>
      <p:sp>
        <p:nvSpPr>
          <p:cNvPr id="3" name="Text Placeholder 2"/>
          <p:cNvSpPr>
            <a:spLocks noGrp="1"/>
          </p:cNvSpPr>
          <p:nvPr>
            <p:ph type="body" idx="1"/>
          </p:nvPr>
        </p:nvSpPr>
        <p:spPr>
          <a:xfrm>
            <a:off x="3107055" y="5224855"/>
            <a:ext cx="10698479" cy="1867037"/>
          </a:xfrm>
        </p:spPr>
        <p:txBody>
          <a:bodyPr anchor="ctr">
            <a:normAutofit/>
          </a:bodyPr>
          <a:lstStyle>
            <a:lvl1pPr marL="0" indent="0" algn="l">
              <a:buNone/>
              <a:defRPr sz="216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638175" y="3892967"/>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0240832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19939" y="731520"/>
            <a:ext cx="10072711" cy="3474720"/>
          </a:xfrm>
        </p:spPr>
        <p:txBody>
          <a:bodyPr anchor="ctr">
            <a:normAutofit/>
          </a:bodyPr>
          <a:lstStyle>
            <a:lvl1pPr algn="l">
              <a:defRPr sz="576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930014" y="4206240"/>
            <a:ext cx="9043865"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3107055" y="5224855"/>
            <a:ext cx="10698479" cy="1867037"/>
          </a:xfrm>
        </p:spPr>
        <p:txBody>
          <a:bodyPr anchor="ctr">
            <a:normAutofit/>
          </a:bodyPr>
          <a:lstStyle>
            <a:lvl1pPr marL="0" indent="0" algn="l">
              <a:buNone/>
              <a:defRPr sz="216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638175" y="3892967"/>
            <a:ext cx="935720" cy="438150"/>
          </a:xfrm>
        </p:spPr>
        <p:txBody>
          <a:bodyPr/>
          <a:lstStyle/>
          <a:p>
            <a:fld id="{D57F1E4F-1CFF-5643-939E-217C01CDF565}" type="slidenum">
              <a:rPr lang="en-US" dirty="0"/>
              <a:pPr/>
              <a:t>‹#›</a:t>
            </a:fld>
            <a:endParaRPr lang="en-US" dirty="0"/>
          </a:p>
        </p:txBody>
      </p:sp>
      <p:sp>
        <p:nvSpPr>
          <p:cNvPr id="14" name="TextBox 13"/>
          <p:cNvSpPr txBox="1"/>
          <p:nvPr/>
        </p:nvSpPr>
        <p:spPr>
          <a:xfrm>
            <a:off x="2961182" y="777606"/>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15" name="TextBox 14"/>
          <p:cNvSpPr txBox="1"/>
          <p:nvPr/>
        </p:nvSpPr>
        <p:spPr>
          <a:xfrm>
            <a:off x="13337822" y="34863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316489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107056" y="2926081"/>
            <a:ext cx="10698480" cy="3269814"/>
          </a:xfrm>
        </p:spPr>
        <p:txBody>
          <a:bodyPr anchor="b">
            <a:normAutofit/>
          </a:bodyPr>
          <a:lstStyle>
            <a:lvl1pPr algn="l">
              <a:defRPr sz="5760" b="0"/>
            </a:lvl1pPr>
          </a:lstStyle>
          <a:p>
            <a:r>
              <a:rPr lang="en-US"/>
              <a:t>Click to edit Master title style</a:t>
            </a:r>
            <a:endParaRPr lang="en-US" dirty="0"/>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638175" y="5979705"/>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286933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3419939" y="731520"/>
            <a:ext cx="10072711" cy="3474720"/>
          </a:xfrm>
        </p:spPr>
        <p:txBody>
          <a:bodyPr anchor="ctr">
            <a:normAutofit/>
          </a:bodyPr>
          <a:lstStyle>
            <a:lvl1pPr algn="l">
              <a:defRPr sz="576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3107054" y="5212080"/>
            <a:ext cx="10698480" cy="1005840"/>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638175" y="5979705"/>
            <a:ext cx="935720" cy="438150"/>
          </a:xfrm>
        </p:spPr>
        <p:txBody>
          <a:bodyPr/>
          <a:lstStyle/>
          <a:p>
            <a:fld id="{D57F1E4F-1CFF-5643-939E-217C01CDF565}" type="slidenum">
              <a:rPr lang="en-US" dirty="0"/>
              <a:pPr/>
              <a:t>‹#›</a:t>
            </a:fld>
            <a:endParaRPr lang="en-US" dirty="0"/>
          </a:p>
        </p:txBody>
      </p:sp>
      <p:sp>
        <p:nvSpPr>
          <p:cNvPr id="17" name="TextBox 16"/>
          <p:cNvSpPr txBox="1"/>
          <p:nvPr/>
        </p:nvSpPr>
        <p:spPr>
          <a:xfrm>
            <a:off x="2961182" y="777606"/>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18" name="TextBox 17"/>
          <p:cNvSpPr txBox="1"/>
          <p:nvPr/>
        </p:nvSpPr>
        <p:spPr>
          <a:xfrm>
            <a:off x="13337822" y="34863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288976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3107055" y="752888"/>
            <a:ext cx="10698479" cy="3456024"/>
          </a:xfrm>
        </p:spPr>
        <p:txBody>
          <a:bodyPr anchor="ctr">
            <a:normAutofit/>
          </a:bodyPr>
          <a:lstStyle>
            <a:lvl1pPr algn="l">
              <a:defRPr sz="5760" b="0"/>
            </a:lvl1pPr>
          </a:lstStyle>
          <a:p>
            <a:r>
              <a:rPr lang="en-US"/>
              <a:t>Click to edit Master title style</a:t>
            </a:r>
            <a:endParaRPr lang="en-US" dirty="0"/>
          </a:p>
        </p:txBody>
      </p:sp>
      <p:sp>
        <p:nvSpPr>
          <p:cNvPr id="21" name="Text Placeholder 9"/>
          <p:cNvSpPr>
            <a:spLocks noGrp="1"/>
          </p:cNvSpPr>
          <p:nvPr>
            <p:ph type="body" sz="quarter" idx="13"/>
          </p:nvPr>
        </p:nvSpPr>
        <p:spPr>
          <a:xfrm>
            <a:off x="3107054" y="5212080"/>
            <a:ext cx="10698480" cy="1005840"/>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638175" y="5979705"/>
            <a:ext cx="935720" cy="438150"/>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1572138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1440099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53775" y="752887"/>
            <a:ext cx="2649121" cy="6340580"/>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3107054" y="752887"/>
            <a:ext cx="7772400" cy="63405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387250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8677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046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478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78264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877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872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3556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526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74320"/>
            <a:ext cx="3421819" cy="7966354"/>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32665" y="-943"/>
            <a:ext cx="2828009" cy="8224847"/>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219456" cy="8229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3111510" y="748932"/>
            <a:ext cx="10694024" cy="15370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107054" y="2560320"/>
            <a:ext cx="10698480" cy="46634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433935" y="7356525"/>
            <a:ext cx="1375540" cy="444475"/>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dirty="0"/>
              <a:pPr/>
              <a:t>1/3/2026</a:t>
            </a:fld>
            <a:endParaRPr lang="en-US" dirty="0"/>
          </a:p>
        </p:txBody>
      </p:sp>
      <p:sp>
        <p:nvSpPr>
          <p:cNvPr id="5" name="Footer Placeholder 4"/>
          <p:cNvSpPr>
            <a:spLocks noGrp="1"/>
          </p:cNvSpPr>
          <p:nvPr>
            <p:ph type="ftr" sz="quarter" idx="3"/>
          </p:nvPr>
        </p:nvSpPr>
        <p:spPr>
          <a:xfrm>
            <a:off x="3107055" y="7362970"/>
            <a:ext cx="9143999"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38175" y="945339"/>
            <a:ext cx="935720" cy="438150"/>
          </a:xfrm>
          <a:prstGeom prst="rect">
            <a:avLst/>
          </a:prstGeom>
        </p:spPr>
        <p:txBody>
          <a:bodyPr vert="horz" lIns="91440" tIns="45720" rIns="91440" bIns="45720" rtlCol="0" anchor="ctr"/>
          <a:lstStyle>
            <a:lvl1pPr algn="r">
              <a:defRPr sz="24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73243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sldNum="0" hdr="0" ftr="0" dt="0"/>
  <p:txStyles>
    <p:titleStyle>
      <a:lvl1pPr algn="l" defTabSz="548640" rtl="0" eaLnBrk="1" latinLnBrk="0" hangingPunct="1">
        <a:spcBef>
          <a:spcPct val="0"/>
        </a:spcBef>
        <a:buNone/>
        <a:defRPr sz="432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782317" y="2300697"/>
            <a:ext cx="9532239" cy="2126337"/>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EnviroScan: AI-Powered Pollution Source Identifier</a:t>
            </a:r>
            <a:endParaRPr lang="en-US" sz="4450" dirty="0"/>
          </a:p>
        </p:txBody>
      </p:sp>
      <p:sp>
        <p:nvSpPr>
          <p:cNvPr id="6" name="TextBox 5">
            <a:extLst>
              <a:ext uri="{FF2B5EF4-FFF2-40B4-BE49-F238E27FC236}">
                <a16:creationId xmlns:a16="http://schemas.microsoft.com/office/drawing/2014/main" id="{30B173BB-9ADB-370F-7B26-2F06DD1BCA58}"/>
              </a:ext>
            </a:extLst>
          </p:cNvPr>
          <p:cNvSpPr txBox="1"/>
          <p:nvPr/>
        </p:nvSpPr>
        <p:spPr>
          <a:xfrm>
            <a:off x="4997799" y="4516243"/>
            <a:ext cx="7279693" cy="2554545"/>
          </a:xfrm>
          <a:prstGeom prst="rect">
            <a:avLst/>
          </a:prstGeom>
          <a:noFill/>
          <a:ln>
            <a:solidFill>
              <a:schemeClr val="bg2">
                <a:lumMod val="50000"/>
              </a:schemeClr>
            </a:solidFill>
          </a:ln>
        </p:spPr>
        <p:txBody>
          <a:bodyPr wrap="square" rtlCol="0">
            <a:spAutoFit/>
          </a:bodyPr>
          <a:lstStyle/>
          <a:p>
            <a:pPr marL="285750" indent="-285750">
              <a:buFont typeface="Arial" panose="020B0604020202020204" pitchFamily="34" charset="0"/>
              <a:buChar char="•"/>
            </a:pPr>
            <a:r>
              <a:rPr lang="en-US" sz="2000" b="1" dirty="0">
                <a:latin typeface="Fraunces Extra Bold" panose="020B0604020202020204" charset="0"/>
              </a:rPr>
              <a:t>Mahek Rana</a:t>
            </a:r>
            <a:br>
              <a:rPr lang="en-US" sz="2000" dirty="0">
                <a:latin typeface="Fraunces Extra Bold" panose="020B0604020202020204" charset="0"/>
              </a:rPr>
            </a:br>
            <a:r>
              <a:rPr lang="en-US" sz="2000" dirty="0">
                <a:latin typeface="Fraunces Extra Bold" panose="020B0604020202020204" charset="0"/>
              </a:rPr>
              <a:t>Infosys Springboard Internship Program</a:t>
            </a:r>
          </a:p>
          <a:p>
            <a:pPr marL="285750" indent="-285750">
              <a:lnSpc>
                <a:spcPct val="200000"/>
              </a:lnSpc>
              <a:buFont typeface="Arial" panose="020B0604020202020204" pitchFamily="34" charset="0"/>
              <a:buChar char="•"/>
            </a:pPr>
            <a:r>
              <a:rPr lang="en-US" sz="2000" dirty="0">
                <a:latin typeface="Fraunces Extra Bold" panose="020B0604020202020204" charset="0"/>
              </a:rPr>
              <a:t>BE in Computer Science &amp; Technology (CST)</a:t>
            </a:r>
            <a:br>
              <a:rPr lang="en-US" sz="2000" dirty="0">
                <a:latin typeface="Fraunces Extra Bold" panose="020B0604020202020204" charset="0"/>
              </a:rPr>
            </a:br>
            <a:r>
              <a:rPr lang="en-US" sz="2000" dirty="0">
                <a:latin typeface="Fraunces Extra Bold" panose="020B0604020202020204" charset="0"/>
              </a:rPr>
              <a:t>LJ Institute of Engineering and Technology</a:t>
            </a:r>
          </a:p>
          <a:p>
            <a:pPr marL="285750" indent="-285750">
              <a:buFont typeface="Arial" panose="020B0604020202020204" pitchFamily="34" charset="0"/>
              <a:buChar char="•"/>
            </a:pPr>
            <a:r>
              <a:rPr lang="en-US" sz="2000" b="1" dirty="0">
                <a:latin typeface="Fraunces Extra Bold" panose="020B0604020202020204" charset="0"/>
              </a:rPr>
              <a:t>Mentor:</a:t>
            </a:r>
            <a:r>
              <a:rPr lang="en-US" sz="2000" dirty="0">
                <a:latin typeface="Fraunces Extra Bold" panose="020B0604020202020204" charset="0"/>
              </a:rPr>
              <a:t> Rahul Sir</a:t>
            </a:r>
          </a:p>
          <a:p>
            <a:pPr marL="285750" indent="-285750">
              <a:buFont typeface="Arial" panose="020B0604020202020204" pitchFamily="34" charset="0"/>
              <a:buChar char="•"/>
            </a:pPr>
            <a:endParaRPr lang="en-IN" sz="2000" dirty="0">
              <a:latin typeface="Fraunces Extra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3790" y="855821"/>
            <a:ext cx="13345956" cy="2126337"/>
          </a:xfrm>
          <a:prstGeom prst="rect">
            <a:avLst/>
          </a:prstGeom>
          <a:noFill/>
          <a:ln/>
        </p:spPr>
        <p:txBody>
          <a:bodyPr wrap="square" lIns="0" tIns="0" rIns="0" bIns="0" rtlCol="0" anchor="t"/>
          <a:lstStyle/>
          <a:p>
            <a:pPr algn="just">
              <a:lnSpc>
                <a:spcPct val="150000"/>
              </a:lnSpc>
            </a:pPr>
            <a:r>
              <a:rPr lang="en-US" b="1" dirty="0">
                <a:solidFill>
                  <a:srgbClr val="3B4540"/>
                </a:solidFill>
                <a:latin typeface="Fraunces Extra Bold" panose="020B0604020202020204" charset="0"/>
                <a:ea typeface="Fraunces Extra Bold" pitchFamily="34" charset="-122"/>
                <a:cs typeface="Fraunces Extra Bold" pitchFamily="34" charset="-120"/>
              </a:rPr>
              <a:t>Problem Statement: </a:t>
            </a:r>
            <a:r>
              <a:rPr lang="en-US" dirty="0">
                <a:latin typeface="Fraunces Extra Bold" panose="020B0604020202020204" charset="0"/>
              </a:rPr>
              <a:t>Traditional pollution monitoring systems measure pollutant levels but do not identify their sources, limiting targeted action. This project uses machine learning, weather data, and geospatial analytics to predict pollution sources such as industrial activity, traffic, agricultural burning, or natural causes. By analyzing real-time sensor data, weather conditions, and location features, the system classifies pollution sources, generates geospatial heatmaps, and issues alerts for high-risk areas, enabling data-driven environmental decision-making.</a:t>
            </a:r>
          </a:p>
        </p:txBody>
      </p:sp>
      <p:sp>
        <p:nvSpPr>
          <p:cNvPr id="4" name="Shape 1"/>
          <p:cNvSpPr/>
          <p:nvPr/>
        </p:nvSpPr>
        <p:spPr>
          <a:xfrm>
            <a:off x="885230" y="3307080"/>
            <a:ext cx="8370282" cy="1730812"/>
          </a:xfrm>
          <a:prstGeom prst="roundRect">
            <a:avLst>
              <a:gd name="adj" fmla="val 8453"/>
            </a:avLst>
          </a:prstGeom>
          <a:solidFill>
            <a:srgbClr val="FAFFFA"/>
          </a:solidFill>
          <a:ln w="30480">
            <a:solidFill>
              <a:srgbClr val="CED9CE"/>
            </a:solidFill>
            <a:prstDash val="solid"/>
          </a:ln>
        </p:spPr>
        <p:txBody>
          <a:bodyPr/>
          <a:lstStyle/>
          <a:p>
            <a:endParaRPr lang="en-IN"/>
          </a:p>
        </p:txBody>
      </p:sp>
      <p:sp>
        <p:nvSpPr>
          <p:cNvPr id="5" name="Shape 2"/>
          <p:cNvSpPr/>
          <p:nvPr/>
        </p:nvSpPr>
        <p:spPr>
          <a:xfrm>
            <a:off x="763310" y="3322320"/>
            <a:ext cx="121920" cy="1730812"/>
          </a:xfrm>
          <a:prstGeom prst="roundRect">
            <a:avLst>
              <a:gd name="adj" fmla="val 167442"/>
            </a:avLst>
          </a:prstGeom>
          <a:solidFill>
            <a:srgbClr val="438951"/>
          </a:solidFill>
          <a:ln/>
        </p:spPr>
        <p:txBody>
          <a:bodyPr/>
          <a:lstStyle/>
          <a:p>
            <a:endParaRPr lang="en-IN"/>
          </a:p>
        </p:txBody>
      </p:sp>
      <p:sp>
        <p:nvSpPr>
          <p:cNvPr id="6" name="Text 3"/>
          <p:cNvSpPr/>
          <p:nvPr/>
        </p:nvSpPr>
        <p:spPr>
          <a:xfrm>
            <a:off x="1142524" y="3579614"/>
            <a:ext cx="2890242"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Current Limitations</a:t>
            </a:r>
            <a:endParaRPr lang="en-US" sz="2200" dirty="0"/>
          </a:p>
        </p:txBody>
      </p:sp>
      <p:sp>
        <p:nvSpPr>
          <p:cNvPr id="7" name="Text 4"/>
          <p:cNvSpPr/>
          <p:nvPr/>
        </p:nvSpPr>
        <p:spPr>
          <a:xfrm>
            <a:off x="1142524" y="4070033"/>
            <a:ext cx="6950393"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Fraunces Extra Bold" panose="020B0604020202020204" charset="0"/>
                <a:ea typeface="Nobile" pitchFamily="34" charset="-122"/>
                <a:cs typeface="Nobile" pitchFamily="34" charset="-120"/>
              </a:rPr>
              <a:t>Existing systems measure pollution levels but fail to identify specific sources, hindering effective intervention.</a:t>
            </a:r>
            <a:endParaRPr lang="en-US" sz="1750" dirty="0">
              <a:latin typeface="Fraunces Extra Bold" panose="020B0604020202020204" charset="0"/>
            </a:endParaRPr>
          </a:p>
        </p:txBody>
      </p:sp>
      <p:sp>
        <p:nvSpPr>
          <p:cNvPr id="8" name="Shape 5"/>
          <p:cNvSpPr/>
          <p:nvPr/>
        </p:nvSpPr>
        <p:spPr>
          <a:xfrm>
            <a:off x="793790" y="5279946"/>
            <a:ext cx="8461722" cy="2093714"/>
          </a:xfrm>
          <a:prstGeom prst="roundRect">
            <a:avLst>
              <a:gd name="adj" fmla="val 6988"/>
            </a:avLst>
          </a:prstGeom>
          <a:solidFill>
            <a:srgbClr val="FAFFFA"/>
          </a:solidFill>
          <a:ln w="30480">
            <a:solidFill>
              <a:srgbClr val="CED9CE"/>
            </a:solidFill>
            <a:prstDash val="solid"/>
          </a:ln>
        </p:spPr>
        <p:txBody>
          <a:bodyPr/>
          <a:lstStyle/>
          <a:p>
            <a:endParaRPr lang="en-IN"/>
          </a:p>
        </p:txBody>
      </p:sp>
      <p:sp>
        <p:nvSpPr>
          <p:cNvPr id="9" name="Shape 6"/>
          <p:cNvSpPr/>
          <p:nvPr/>
        </p:nvSpPr>
        <p:spPr>
          <a:xfrm>
            <a:off x="763310" y="5279946"/>
            <a:ext cx="121920" cy="2093714"/>
          </a:xfrm>
          <a:prstGeom prst="roundRect">
            <a:avLst>
              <a:gd name="adj" fmla="val 167442"/>
            </a:avLst>
          </a:prstGeom>
          <a:solidFill>
            <a:srgbClr val="438951"/>
          </a:solidFill>
          <a:ln/>
        </p:spPr>
        <p:txBody>
          <a:bodyPr/>
          <a:lstStyle/>
          <a:p>
            <a:endParaRPr lang="en-IN"/>
          </a:p>
        </p:txBody>
      </p:sp>
      <p:sp>
        <p:nvSpPr>
          <p:cNvPr id="10" name="Text 7"/>
          <p:cNvSpPr/>
          <p:nvPr/>
        </p:nvSpPr>
        <p:spPr>
          <a:xfrm>
            <a:off x="1142524" y="55372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Our Solution</a:t>
            </a:r>
            <a:endParaRPr lang="en-US" sz="2200" dirty="0"/>
          </a:p>
        </p:txBody>
      </p:sp>
      <p:sp>
        <p:nvSpPr>
          <p:cNvPr id="11" name="Text 8"/>
          <p:cNvSpPr/>
          <p:nvPr/>
        </p:nvSpPr>
        <p:spPr>
          <a:xfrm>
            <a:off x="1142524" y="6027658"/>
            <a:ext cx="6950393"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Fraunces Extra Bold" panose="020B0604020202020204" charset="0"/>
                <a:ea typeface="Nobile" pitchFamily="34" charset="-122"/>
                <a:cs typeface="Nobile" pitchFamily="34" charset="-120"/>
              </a:rPr>
              <a:t>EnviroScan uses ML, weather data, and geospatial analytics to predict pollution sources like industrial, vehicular, or agricultural.</a:t>
            </a:r>
            <a:endParaRPr lang="en-US" sz="1750" dirty="0">
              <a:latin typeface="Fraunces Extra Bold"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E4FF9-615F-DAEB-4C31-21A3AF311E6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FC07F82-84AE-D78D-74AC-E9A3CBA56589}"/>
              </a:ext>
            </a:extLst>
          </p:cNvPr>
          <p:cNvSpPr/>
          <p:nvPr/>
        </p:nvSpPr>
        <p:spPr>
          <a:xfrm>
            <a:off x="3129913" y="943690"/>
            <a:ext cx="7425690" cy="634246"/>
          </a:xfrm>
          <a:prstGeom prst="rect">
            <a:avLst/>
          </a:prstGeom>
          <a:noFill/>
          <a:ln/>
        </p:spPr>
        <p:txBody>
          <a:bodyPr wrap="none" lIns="0" tIns="0" rIns="0" bIns="0" rtlCol="0" anchor="t"/>
          <a:lstStyle/>
          <a:p>
            <a:pPr algn="just">
              <a:lnSpc>
                <a:spcPts val="4950"/>
              </a:lnSpc>
            </a:pPr>
            <a:r>
              <a:rPr lang="en-IN" sz="3950" dirty="0">
                <a:solidFill>
                  <a:schemeClr val="tx2">
                    <a:lumMod val="75000"/>
                  </a:schemeClr>
                </a:solidFill>
                <a:latin typeface="Fraunces Extra Bold" panose="020B0604020202020204" charset="0"/>
              </a:rPr>
              <a:t>APPROACH &amp; TECHNOLOGY</a:t>
            </a:r>
            <a:endParaRPr lang="en-US" sz="3950" dirty="0">
              <a:solidFill>
                <a:schemeClr val="tx2">
                  <a:lumMod val="75000"/>
                </a:schemeClr>
              </a:solidFill>
              <a:latin typeface="Fraunces Extra Bold" panose="020B0604020202020204" charset="0"/>
            </a:endParaRPr>
          </a:p>
        </p:txBody>
      </p:sp>
      <p:sp>
        <p:nvSpPr>
          <p:cNvPr id="5" name="Text 1">
            <a:extLst>
              <a:ext uri="{FF2B5EF4-FFF2-40B4-BE49-F238E27FC236}">
                <a16:creationId xmlns:a16="http://schemas.microsoft.com/office/drawing/2014/main" id="{4625E0A7-045B-5601-81D4-79B9C9AD2023}"/>
              </a:ext>
            </a:extLst>
          </p:cNvPr>
          <p:cNvSpPr/>
          <p:nvPr/>
        </p:nvSpPr>
        <p:spPr>
          <a:xfrm>
            <a:off x="6958013" y="2327672"/>
            <a:ext cx="2537460" cy="317063"/>
          </a:xfrm>
          <a:prstGeom prst="rect">
            <a:avLst/>
          </a:prstGeom>
          <a:noFill/>
          <a:ln/>
        </p:spPr>
        <p:txBody>
          <a:bodyPr wrap="none" lIns="0" tIns="0" rIns="0" bIns="0" rtlCol="0" anchor="t"/>
          <a:lstStyle/>
          <a:p>
            <a:pPr marL="0" indent="0" algn="just">
              <a:lnSpc>
                <a:spcPts val="2450"/>
              </a:lnSpc>
              <a:buNone/>
            </a:pPr>
            <a:endParaRPr lang="en-US" sz="1950" dirty="0"/>
          </a:p>
        </p:txBody>
      </p:sp>
      <p:sp>
        <p:nvSpPr>
          <p:cNvPr id="6" name="Text 2">
            <a:extLst>
              <a:ext uri="{FF2B5EF4-FFF2-40B4-BE49-F238E27FC236}">
                <a16:creationId xmlns:a16="http://schemas.microsoft.com/office/drawing/2014/main" id="{CEB344D6-33D0-CD26-5BA0-2C6C496988DE}"/>
              </a:ext>
            </a:extLst>
          </p:cNvPr>
          <p:cNvSpPr/>
          <p:nvPr/>
        </p:nvSpPr>
        <p:spPr>
          <a:xfrm>
            <a:off x="6958013" y="2766417"/>
            <a:ext cx="6961942" cy="808078"/>
          </a:xfrm>
          <a:prstGeom prst="rect">
            <a:avLst/>
          </a:prstGeom>
          <a:noFill/>
          <a:ln/>
        </p:spPr>
        <p:txBody>
          <a:bodyPr wrap="none" lIns="0" tIns="0" rIns="0" bIns="0" rtlCol="0" anchor="t"/>
          <a:lstStyle/>
          <a:p>
            <a:pPr marL="0" indent="0" algn="just">
              <a:lnSpc>
                <a:spcPts val="2550"/>
              </a:lnSpc>
              <a:buNone/>
            </a:pPr>
            <a:endParaRPr lang="en-US" sz="1550" dirty="0"/>
          </a:p>
        </p:txBody>
      </p:sp>
      <p:sp>
        <p:nvSpPr>
          <p:cNvPr id="8" name="Text 3">
            <a:extLst>
              <a:ext uri="{FF2B5EF4-FFF2-40B4-BE49-F238E27FC236}">
                <a16:creationId xmlns:a16="http://schemas.microsoft.com/office/drawing/2014/main" id="{9048C5AD-E93C-7FF8-895A-0D53E0083B3F}"/>
              </a:ext>
            </a:extLst>
          </p:cNvPr>
          <p:cNvSpPr/>
          <p:nvPr/>
        </p:nvSpPr>
        <p:spPr>
          <a:xfrm>
            <a:off x="3411924" y="4022350"/>
            <a:ext cx="4906885" cy="310959"/>
          </a:xfrm>
          <a:prstGeom prst="rect">
            <a:avLst/>
          </a:prstGeom>
          <a:noFill/>
          <a:ln/>
        </p:spPr>
        <p:txBody>
          <a:bodyPr wrap="none" lIns="0" tIns="0" rIns="0" bIns="0" rtlCol="0" anchor="t"/>
          <a:lstStyle/>
          <a:p>
            <a:pPr marL="342900" indent="-342900" algn="just">
              <a:lnSpc>
                <a:spcPts val="2450"/>
              </a:lnSpc>
              <a:buFont typeface="Wingdings" panose="05000000000000000000" pitchFamily="2" charset="2"/>
              <a:buChar char="Ø"/>
            </a:pPr>
            <a:r>
              <a:rPr lang="en-US" sz="2000" dirty="0">
                <a:latin typeface="Fraunces Extra Bold" panose="020B0604020202020204" charset="0"/>
              </a:rPr>
              <a:t>Machine Learning Model: XGBoost Classifier</a:t>
            </a:r>
          </a:p>
        </p:txBody>
      </p:sp>
      <p:sp>
        <p:nvSpPr>
          <p:cNvPr id="9" name="Text 4">
            <a:extLst>
              <a:ext uri="{FF2B5EF4-FFF2-40B4-BE49-F238E27FC236}">
                <a16:creationId xmlns:a16="http://schemas.microsoft.com/office/drawing/2014/main" id="{1ACCE492-F1DF-C882-F5FF-1D5E0A20F4BD}"/>
              </a:ext>
            </a:extLst>
          </p:cNvPr>
          <p:cNvSpPr/>
          <p:nvPr/>
        </p:nvSpPr>
        <p:spPr>
          <a:xfrm>
            <a:off x="3735310" y="2569310"/>
            <a:ext cx="8386066" cy="1408448"/>
          </a:xfrm>
          <a:prstGeom prst="rect">
            <a:avLst/>
          </a:prstGeom>
          <a:noFill/>
          <a:ln/>
        </p:spPr>
        <p:txBody>
          <a:bodyPr wrap="none" lIns="0" tIns="0" rIns="0" bIns="0" rtlCol="0" anchor="t"/>
          <a:lstStyle/>
          <a:p>
            <a:pPr algn="just">
              <a:lnSpc>
                <a:spcPts val="2550"/>
              </a:lnSpc>
            </a:pPr>
            <a:r>
              <a:rPr lang="en-US" dirty="0">
                <a:latin typeface="Fraunces Extra Bold" panose="020B0604020202020204" charset="0"/>
              </a:rPr>
              <a:t>• Air Quality Dataset 2021-2023 (1000+ samples from CPCB) </a:t>
            </a:r>
          </a:p>
          <a:p>
            <a:pPr algn="just">
              <a:lnSpc>
                <a:spcPts val="2550"/>
              </a:lnSpc>
            </a:pPr>
            <a:r>
              <a:rPr lang="en-US" dirty="0">
                <a:latin typeface="Fraunces Extra Bold" panose="020B0604020202020204" charset="0"/>
              </a:rPr>
              <a:t>• OpenWeather API (real-time air quality &amp; weather) </a:t>
            </a:r>
          </a:p>
          <a:p>
            <a:pPr algn="just">
              <a:lnSpc>
                <a:spcPts val="2550"/>
              </a:lnSpc>
            </a:pPr>
            <a:r>
              <a:rPr lang="en-US" dirty="0">
                <a:latin typeface="Fraunces Extra Bold" panose="020B0604020202020204" charset="0"/>
              </a:rPr>
              <a:t>• OSMnx (OpenStreetMap geospatial data)</a:t>
            </a:r>
            <a:endParaRPr lang="en-US" sz="1550" dirty="0">
              <a:latin typeface="Fraunces Extra Bold" panose="020B0604020202020204" charset="0"/>
            </a:endParaRPr>
          </a:p>
        </p:txBody>
      </p:sp>
      <p:sp>
        <p:nvSpPr>
          <p:cNvPr id="2" name="TextBox 1">
            <a:extLst>
              <a:ext uri="{FF2B5EF4-FFF2-40B4-BE49-F238E27FC236}">
                <a16:creationId xmlns:a16="http://schemas.microsoft.com/office/drawing/2014/main" id="{696840B7-5AC9-B1DC-28E7-32A409CBA422}"/>
              </a:ext>
            </a:extLst>
          </p:cNvPr>
          <p:cNvSpPr txBox="1"/>
          <p:nvPr/>
        </p:nvSpPr>
        <p:spPr>
          <a:xfrm>
            <a:off x="3411925" y="2035044"/>
            <a:ext cx="3066933" cy="400110"/>
          </a:xfrm>
          <a:prstGeom prst="rect">
            <a:avLst/>
          </a:prstGeom>
          <a:noFill/>
        </p:spPr>
        <p:txBody>
          <a:bodyPr wrap="square" rtlCol="0">
            <a:spAutoFit/>
          </a:bodyPr>
          <a:lstStyle/>
          <a:p>
            <a:pPr marL="285750" indent="-285750" algn="just">
              <a:buFont typeface="Wingdings" panose="05000000000000000000" pitchFamily="2" charset="2"/>
              <a:buChar char="Ø"/>
            </a:pPr>
            <a:r>
              <a:rPr lang="en-IN" b="1" dirty="0">
                <a:latin typeface="Fraunces Extra Bold" panose="020B0604020202020204" charset="0"/>
              </a:rPr>
              <a:t>Data </a:t>
            </a:r>
            <a:r>
              <a:rPr lang="en-IN" sz="2000" b="1" dirty="0">
                <a:latin typeface="Fraunces Extra Bold" panose="020B0604020202020204" charset="0"/>
              </a:rPr>
              <a:t>Sources</a:t>
            </a:r>
            <a:r>
              <a:rPr lang="en-IN" b="1" dirty="0">
                <a:latin typeface="Fraunces Extra Bold" panose="020B0604020202020204" charset="0"/>
              </a:rPr>
              <a:t>:</a:t>
            </a:r>
          </a:p>
        </p:txBody>
      </p:sp>
      <p:sp>
        <p:nvSpPr>
          <p:cNvPr id="17" name="TextBox 16">
            <a:extLst>
              <a:ext uri="{FF2B5EF4-FFF2-40B4-BE49-F238E27FC236}">
                <a16:creationId xmlns:a16="http://schemas.microsoft.com/office/drawing/2014/main" id="{B107365D-F250-9C21-7DA4-4BFF6643FA21}"/>
              </a:ext>
            </a:extLst>
          </p:cNvPr>
          <p:cNvSpPr txBox="1"/>
          <p:nvPr/>
        </p:nvSpPr>
        <p:spPr>
          <a:xfrm>
            <a:off x="3322714" y="4769077"/>
            <a:ext cx="5278939" cy="400110"/>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Fraunces Extra Bold" panose="020B0604020202020204" charset="0"/>
              </a:rPr>
              <a:t>Features Used: 12 features total</a:t>
            </a:r>
            <a:r>
              <a:rPr lang="en-IN" sz="2000" b="1" dirty="0">
                <a:latin typeface="Fraunces Extra Bold" panose="020B0604020202020204" charset="0"/>
              </a:rPr>
              <a:t>:</a:t>
            </a:r>
          </a:p>
        </p:txBody>
      </p:sp>
      <p:sp>
        <p:nvSpPr>
          <p:cNvPr id="19" name="Text 4">
            <a:extLst>
              <a:ext uri="{FF2B5EF4-FFF2-40B4-BE49-F238E27FC236}">
                <a16:creationId xmlns:a16="http://schemas.microsoft.com/office/drawing/2014/main" id="{0CE23FA0-6473-6655-B418-5BA10F52D230}"/>
              </a:ext>
            </a:extLst>
          </p:cNvPr>
          <p:cNvSpPr/>
          <p:nvPr/>
        </p:nvSpPr>
        <p:spPr>
          <a:xfrm>
            <a:off x="3631232" y="5314685"/>
            <a:ext cx="8386066" cy="1408448"/>
          </a:xfrm>
          <a:prstGeom prst="rect">
            <a:avLst/>
          </a:prstGeom>
          <a:noFill/>
          <a:ln/>
        </p:spPr>
        <p:txBody>
          <a:bodyPr wrap="none" lIns="0" tIns="0" rIns="0" bIns="0" rtlCol="0" anchor="t"/>
          <a:lstStyle/>
          <a:p>
            <a:pPr marL="285750" indent="-285750" algn="just">
              <a:lnSpc>
                <a:spcPts val="2550"/>
              </a:lnSpc>
              <a:buFont typeface="Arial" panose="020B0604020202020204" pitchFamily="34" charset="0"/>
              <a:buChar char="•"/>
            </a:pPr>
            <a:r>
              <a:rPr lang="en-US" dirty="0">
                <a:latin typeface="Fraunces Extra Bold" panose="020B0604020202020204" charset="0"/>
              </a:rPr>
              <a:t>4 Pollutants (PM2.5, PM10, NO2, SO2) </a:t>
            </a:r>
          </a:p>
          <a:p>
            <a:pPr marL="285750" indent="-285750" algn="just">
              <a:lnSpc>
                <a:spcPts val="2550"/>
              </a:lnSpc>
              <a:buFont typeface="Arial" panose="020B0604020202020204" pitchFamily="34" charset="0"/>
              <a:buChar char="•"/>
            </a:pPr>
            <a:r>
              <a:rPr lang="en-US" dirty="0">
                <a:latin typeface="Fraunces Extra Bold" panose="020B0604020202020204" charset="0"/>
              </a:rPr>
              <a:t>3 Weather (Temperature, Humidity, Pressure) </a:t>
            </a:r>
          </a:p>
          <a:p>
            <a:pPr marL="285750" indent="-285750" algn="just">
              <a:lnSpc>
                <a:spcPts val="2550"/>
              </a:lnSpc>
              <a:buFont typeface="Arial" panose="020B0604020202020204" pitchFamily="34" charset="0"/>
              <a:buChar char="•"/>
            </a:pPr>
            <a:r>
              <a:rPr lang="en-US" dirty="0">
                <a:latin typeface="Fraunces Extra Bold" panose="020B0604020202020204" charset="0"/>
              </a:rPr>
              <a:t>5 Geospatial (Distances to roads, industries, farms, dumps, agricultural)</a:t>
            </a:r>
            <a:endParaRPr lang="en-US" sz="1550" dirty="0">
              <a:latin typeface="Fraunces Extra Bold" panose="020B0604020202020204" charset="0"/>
            </a:endParaRPr>
          </a:p>
        </p:txBody>
      </p:sp>
      <p:sp>
        <p:nvSpPr>
          <p:cNvPr id="20" name="Text 4">
            <a:extLst>
              <a:ext uri="{FF2B5EF4-FFF2-40B4-BE49-F238E27FC236}">
                <a16:creationId xmlns:a16="http://schemas.microsoft.com/office/drawing/2014/main" id="{69828BF9-0073-2475-7DFC-C4B664462C8B}"/>
              </a:ext>
            </a:extLst>
          </p:cNvPr>
          <p:cNvSpPr/>
          <p:nvPr/>
        </p:nvSpPr>
        <p:spPr>
          <a:xfrm>
            <a:off x="3322714" y="6667232"/>
            <a:ext cx="8386066" cy="400110"/>
          </a:xfrm>
          <a:prstGeom prst="rect">
            <a:avLst/>
          </a:prstGeom>
          <a:noFill/>
          <a:ln/>
        </p:spPr>
        <p:txBody>
          <a:bodyPr wrap="none" lIns="0" tIns="0" rIns="0" bIns="0" rtlCol="0" anchor="t"/>
          <a:lstStyle/>
          <a:p>
            <a:pPr marL="285750" indent="-285750" algn="just">
              <a:lnSpc>
                <a:spcPts val="2550"/>
              </a:lnSpc>
              <a:buFont typeface="Wingdings" panose="05000000000000000000" pitchFamily="2" charset="2"/>
              <a:buChar char="Ø"/>
            </a:pPr>
            <a:r>
              <a:rPr lang="en-IN" dirty="0">
                <a:latin typeface="Fraunces Extra Bold" panose="020B0604020202020204" charset="0"/>
              </a:rPr>
              <a:t>Tech Stack: Python, Streamlit,  Plotly, FPDF2,  Kaleido</a:t>
            </a:r>
            <a:endParaRPr lang="en-US" sz="1550" dirty="0">
              <a:latin typeface="Fraunces Extra Bold" panose="020B0604020202020204" charset="0"/>
            </a:endParaRPr>
          </a:p>
        </p:txBody>
      </p:sp>
    </p:spTree>
    <p:extLst>
      <p:ext uri="{BB962C8B-B14F-4D97-AF65-F5344CB8AC3E}">
        <p14:creationId xmlns:p14="http://schemas.microsoft.com/office/powerpoint/2010/main" val="74916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82241" y="522856"/>
            <a:ext cx="11606093" cy="698421"/>
          </a:xfrm>
          <a:prstGeom prst="rect">
            <a:avLst/>
          </a:prstGeom>
          <a:noFill/>
          <a:ln/>
        </p:spPr>
        <p:txBody>
          <a:bodyPr wrap="none" lIns="0" tIns="0" rIns="0" bIns="0" rtlCol="0" anchor="t"/>
          <a:lstStyle/>
          <a:p>
            <a:pPr marL="0" indent="0" algn="l">
              <a:lnSpc>
                <a:spcPts val="5450"/>
              </a:lnSpc>
              <a:buNone/>
            </a:pPr>
            <a:r>
              <a:rPr lang="en-US" sz="4350" b="1" dirty="0">
                <a:solidFill>
                  <a:srgbClr val="3B4540"/>
                </a:solidFill>
                <a:latin typeface="Fraunces Extra Bold" pitchFamily="34" charset="0"/>
                <a:ea typeface="Fraunces Extra Bold" pitchFamily="34" charset="-122"/>
                <a:cs typeface="Fraunces Extra Bold" pitchFamily="34" charset="-120"/>
              </a:rPr>
              <a:t>Milestone 1: Data Foundation (Weeks 1-2)</a:t>
            </a:r>
            <a:endParaRPr lang="en-US" sz="4350" dirty="0"/>
          </a:p>
        </p:txBody>
      </p:sp>
      <p:sp>
        <p:nvSpPr>
          <p:cNvPr id="4" name="Text 1"/>
          <p:cNvSpPr/>
          <p:nvPr/>
        </p:nvSpPr>
        <p:spPr>
          <a:xfrm>
            <a:off x="782241" y="1590346"/>
            <a:ext cx="3581757" cy="349210"/>
          </a:xfrm>
          <a:prstGeom prst="rect">
            <a:avLst/>
          </a:prstGeom>
          <a:noFill/>
          <a:ln/>
        </p:spPr>
        <p:txBody>
          <a:bodyPr wrap="none" lIns="0" tIns="0" rIns="0" bIns="0" rtlCol="0" anchor="t"/>
          <a:lstStyle/>
          <a:p>
            <a:pPr marL="0" indent="0" algn="l">
              <a:lnSpc>
                <a:spcPts val="2700"/>
              </a:lnSpc>
              <a:buNone/>
            </a:pPr>
            <a:r>
              <a:rPr lang="en-US" sz="2150" b="1" dirty="0">
                <a:solidFill>
                  <a:srgbClr val="3B4540"/>
                </a:solidFill>
                <a:latin typeface="Fraunces Extra Bold" pitchFamily="34" charset="0"/>
                <a:ea typeface="Fraunces Extra Bold" pitchFamily="34" charset="-122"/>
                <a:cs typeface="Fraunces Extra Bold" pitchFamily="34" charset="-120"/>
              </a:rPr>
              <a:t>Module 1: Data Collection</a:t>
            </a:r>
            <a:endParaRPr lang="en-US" sz="2150" dirty="0"/>
          </a:p>
        </p:txBody>
      </p:sp>
      <p:sp>
        <p:nvSpPr>
          <p:cNvPr id="5" name="Text 2"/>
          <p:cNvSpPr/>
          <p:nvPr/>
        </p:nvSpPr>
        <p:spPr>
          <a:xfrm>
            <a:off x="782241" y="2358764"/>
            <a:ext cx="6260306" cy="715089"/>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Gather air quality (OpenAQ and CPCB) and weather data (OpenWeatherMap).</a:t>
            </a:r>
            <a:endParaRPr lang="en-US" sz="1750" dirty="0"/>
          </a:p>
        </p:txBody>
      </p:sp>
      <p:sp>
        <p:nvSpPr>
          <p:cNvPr id="6" name="Text 3"/>
          <p:cNvSpPr/>
          <p:nvPr/>
        </p:nvSpPr>
        <p:spPr>
          <a:xfrm>
            <a:off x="782241" y="3270137"/>
            <a:ext cx="6260306" cy="715089"/>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Extract physical features (roads, industrial zones) via OpenStreetMap.</a:t>
            </a:r>
            <a:endParaRPr lang="en-US" sz="1750" dirty="0"/>
          </a:p>
        </p:txBody>
      </p:sp>
      <p:sp>
        <p:nvSpPr>
          <p:cNvPr id="7" name="Text 4"/>
          <p:cNvSpPr/>
          <p:nvPr/>
        </p:nvSpPr>
        <p:spPr>
          <a:xfrm>
            <a:off x="782241" y="4114800"/>
            <a:ext cx="6260306" cy="357545"/>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Tag data with location and API metadata.</a:t>
            </a:r>
            <a:endParaRPr lang="en-US" sz="1750" dirty="0"/>
          </a:p>
        </p:txBody>
      </p:sp>
      <p:sp>
        <p:nvSpPr>
          <p:cNvPr id="8" name="Text 5"/>
          <p:cNvSpPr/>
          <p:nvPr/>
        </p:nvSpPr>
        <p:spPr>
          <a:xfrm>
            <a:off x="7136251" y="1590346"/>
            <a:ext cx="6260306" cy="698421"/>
          </a:xfrm>
          <a:prstGeom prst="rect">
            <a:avLst/>
          </a:prstGeom>
          <a:noFill/>
          <a:ln/>
        </p:spPr>
        <p:txBody>
          <a:bodyPr wrap="square" lIns="0" tIns="0" rIns="0" bIns="0" rtlCol="0" anchor="t"/>
          <a:lstStyle/>
          <a:p>
            <a:pPr marL="0" indent="0" algn="l">
              <a:lnSpc>
                <a:spcPts val="2700"/>
              </a:lnSpc>
              <a:buNone/>
            </a:pPr>
            <a:r>
              <a:rPr lang="en-US" sz="2150" b="1" dirty="0">
                <a:solidFill>
                  <a:srgbClr val="3B4540"/>
                </a:solidFill>
                <a:latin typeface="Fraunces Extra Bold" pitchFamily="34" charset="0"/>
                <a:ea typeface="Fraunces Extra Bold" pitchFamily="34" charset="-122"/>
                <a:cs typeface="Fraunces Extra Bold" pitchFamily="34" charset="-120"/>
              </a:rPr>
              <a:t>Module 2: Data Cleaning &amp; Feature Engineering</a:t>
            </a:r>
            <a:endParaRPr lang="en-US" sz="2150" dirty="0"/>
          </a:p>
        </p:txBody>
      </p:sp>
      <p:sp>
        <p:nvSpPr>
          <p:cNvPr id="9" name="Text 6"/>
          <p:cNvSpPr/>
          <p:nvPr/>
        </p:nvSpPr>
        <p:spPr>
          <a:xfrm>
            <a:off x="7216332" y="2370214"/>
            <a:ext cx="6260306" cy="715089"/>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Remove duplicates, handle missing values, standardize data.</a:t>
            </a:r>
            <a:endParaRPr lang="en-US" sz="1750" dirty="0"/>
          </a:p>
        </p:txBody>
      </p:sp>
      <p:sp>
        <p:nvSpPr>
          <p:cNvPr id="10" name="Text 7"/>
          <p:cNvSpPr/>
          <p:nvPr/>
        </p:nvSpPr>
        <p:spPr>
          <a:xfrm>
            <a:off x="7216332" y="3270137"/>
            <a:ext cx="6260306" cy="357545"/>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Calculate spatial proximity and temporal features.</a:t>
            </a:r>
            <a:endParaRPr lang="en-US" sz="1750" dirty="0"/>
          </a:p>
        </p:txBody>
      </p:sp>
      <p:sp>
        <p:nvSpPr>
          <p:cNvPr id="11" name="Text 8"/>
          <p:cNvSpPr/>
          <p:nvPr/>
        </p:nvSpPr>
        <p:spPr>
          <a:xfrm>
            <a:off x="7216332" y="3918574"/>
            <a:ext cx="6260306" cy="715089"/>
          </a:xfrm>
          <a:prstGeom prst="rect">
            <a:avLst/>
          </a:prstGeom>
          <a:noFill/>
          <a:ln/>
        </p:spPr>
        <p:txBody>
          <a:bodyPr wrap="square" lIns="0" tIns="0" rIns="0" bIns="0" rtlCol="0" anchor="t"/>
          <a:lstStyle/>
          <a:p>
            <a:pPr marL="342900" indent="-342900" algn="l">
              <a:lnSpc>
                <a:spcPts val="2800"/>
              </a:lnSpc>
              <a:buSzPct val="100000"/>
              <a:buChar char="•"/>
            </a:pPr>
            <a:r>
              <a:rPr lang="en-US" sz="1750" dirty="0">
                <a:solidFill>
                  <a:srgbClr val="405449"/>
                </a:solidFill>
                <a:latin typeface="Nobile" pitchFamily="34" charset="0"/>
                <a:ea typeface="Nobile" pitchFamily="34" charset="-122"/>
                <a:cs typeface="Nobile" pitchFamily="34" charset="-120"/>
              </a:rPr>
              <a:t>Combine datasets into a unified, feature-rich DataFrame.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280190" y="74187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Milestone 2: Intelligence Building (Weeks 3-4)</a:t>
            </a:r>
            <a:endParaRPr lang="en-US" sz="4450" dirty="0"/>
          </a:p>
        </p:txBody>
      </p:sp>
      <p:sp>
        <p:nvSpPr>
          <p:cNvPr id="4" name="Shape 1"/>
          <p:cNvSpPr/>
          <p:nvPr/>
        </p:nvSpPr>
        <p:spPr>
          <a:xfrm>
            <a:off x="6280190" y="2839760"/>
            <a:ext cx="7556421" cy="2040493"/>
          </a:xfrm>
          <a:prstGeom prst="roundRect">
            <a:avLst>
              <a:gd name="adj" fmla="val 7170"/>
            </a:avLst>
          </a:prstGeom>
          <a:solidFill>
            <a:srgbClr val="FAFFFA"/>
          </a:solidFill>
          <a:ln/>
        </p:spPr>
        <p:txBody>
          <a:bodyPr/>
          <a:lstStyle/>
          <a:p>
            <a:endParaRPr lang="en-IN"/>
          </a:p>
        </p:txBody>
      </p:sp>
      <p:sp>
        <p:nvSpPr>
          <p:cNvPr id="5" name="Shape 2"/>
          <p:cNvSpPr/>
          <p:nvPr/>
        </p:nvSpPr>
        <p:spPr>
          <a:xfrm>
            <a:off x="6280190" y="2809280"/>
            <a:ext cx="7556421" cy="121920"/>
          </a:xfrm>
          <a:prstGeom prst="roundRect">
            <a:avLst>
              <a:gd name="adj" fmla="val 167442"/>
            </a:avLst>
          </a:prstGeom>
          <a:solidFill>
            <a:srgbClr val="438951"/>
          </a:solidFill>
          <a:ln/>
        </p:spPr>
        <p:txBody>
          <a:bodyPr/>
          <a:lstStyle/>
          <a:p>
            <a:endParaRPr lang="en-IN"/>
          </a:p>
        </p:txBody>
      </p:sp>
      <p:sp>
        <p:nvSpPr>
          <p:cNvPr id="6" name="Shape 3"/>
          <p:cNvSpPr/>
          <p:nvPr/>
        </p:nvSpPr>
        <p:spPr>
          <a:xfrm>
            <a:off x="9718179" y="2499598"/>
            <a:ext cx="680442" cy="680442"/>
          </a:xfrm>
          <a:prstGeom prst="roundRect">
            <a:avLst>
              <a:gd name="adj" fmla="val 134383"/>
            </a:avLst>
          </a:prstGeom>
          <a:solidFill>
            <a:srgbClr val="438951"/>
          </a:solidFill>
          <a:ln/>
        </p:spPr>
        <p:txBody>
          <a:bodyPr/>
          <a:lstStyle/>
          <a:p>
            <a:endParaRPr lang="en-IN"/>
          </a:p>
        </p:txBody>
      </p:sp>
      <p:sp>
        <p:nvSpPr>
          <p:cNvPr id="7" name="Text 4"/>
          <p:cNvSpPr/>
          <p:nvPr/>
        </p:nvSpPr>
        <p:spPr>
          <a:xfrm>
            <a:off x="9922252" y="2669738"/>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Fraunces Extra Bold" pitchFamily="34" charset="0"/>
                <a:ea typeface="Fraunces Extra Bold" pitchFamily="34" charset="-122"/>
                <a:cs typeface="Fraunces Extra Bold" pitchFamily="34" charset="-120"/>
              </a:rPr>
              <a:t>1</a:t>
            </a:r>
            <a:endParaRPr lang="en-US" sz="2100" dirty="0"/>
          </a:p>
        </p:txBody>
      </p:sp>
      <p:sp>
        <p:nvSpPr>
          <p:cNvPr id="8" name="Text 5"/>
          <p:cNvSpPr/>
          <p:nvPr/>
        </p:nvSpPr>
        <p:spPr>
          <a:xfrm>
            <a:off x="6537484" y="3406735"/>
            <a:ext cx="5690949"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Module 3: Source Labeling &amp; Simulation</a:t>
            </a:r>
            <a:endParaRPr lang="en-US" sz="2200" dirty="0"/>
          </a:p>
        </p:txBody>
      </p:sp>
      <p:sp>
        <p:nvSpPr>
          <p:cNvPr id="9" name="Text 6"/>
          <p:cNvSpPr/>
          <p:nvPr/>
        </p:nvSpPr>
        <p:spPr>
          <a:xfrm>
            <a:off x="6537484" y="3897154"/>
            <a:ext cx="7041832"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Define rules (e.g., road + high NO₂ = Vehicular) to label pollution sources. Simulate data if ground-truth labels are unavailable.</a:t>
            </a:r>
            <a:endParaRPr lang="en-US" sz="1750" dirty="0"/>
          </a:p>
        </p:txBody>
      </p:sp>
      <p:sp>
        <p:nvSpPr>
          <p:cNvPr id="10" name="Shape 7"/>
          <p:cNvSpPr/>
          <p:nvPr/>
        </p:nvSpPr>
        <p:spPr>
          <a:xfrm>
            <a:off x="6280190" y="5447228"/>
            <a:ext cx="7556421" cy="2040493"/>
          </a:xfrm>
          <a:prstGeom prst="roundRect">
            <a:avLst>
              <a:gd name="adj" fmla="val 7170"/>
            </a:avLst>
          </a:prstGeom>
          <a:solidFill>
            <a:srgbClr val="FAFFFA"/>
          </a:solidFill>
          <a:ln/>
        </p:spPr>
        <p:txBody>
          <a:bodyPr/>
          <a:lstStyle/>
          <a:p>
            <a:endParaRPr lang="en-IN"/>
          </a:p>
        </p:txBody>
      </p:sp>
      <p:sp>
        <p:nvSpPr>
          <p:cNvPr id="11" name="Shape 8"/>
          <p:cNvSpPr/>
          <p:nvPr/>
        </p:nvSpPr>
        <p:spPr>
          <a:xfrm>
            <a:off x="6280190" y="5416748"/>
            <a:ext cx="7556421" cy="121920"/>
          </a:xfrm>
          <a:prstGeom prst="roundRect">
            <a:avLst>
              <a:gd name="adj" fmla="val 167442"/>
            </a:avLst>
          </a:prstGeom>
          <a:solidFill>
            <a:srgbClr val="438951"/>
          </a:solidFill>
          <a:ln/>
        </p:spPr>
        <p:txBody>
          <a:bodyPr/>
          <a:lstStyle/>
          <a:p>
            <a:endParaRPr lang="en-IN"/>
          </a:p>
        </p:txBody>
      </p:sp>
      <p:sp>
        <p:nvSpPr>
          <p:cNvPr id="12" name="Shape 9"/>
          <p:cNvSpPr/>
          <p:nvPr/>
        </p:nvSpPr>
        <p:spPr>
          <a:xfrm>
            <a:off x="9718179" y="5107067"/>
            <a:ext cx="680442" cy="680442"/>
          </a:xfrm>
          <a:prstGeom prst="roundRect">
            <a:avLst>
              <a:gd name="adj" fmla="val 134383"/>
            </a:avLst>
          </a:prstGeom>
          <a:solidFill>
            <a:srgbClr val="438951"/>
          </a:solidFill>
          <a:ln/>
        </p:spPr>
        <p:txBody>
          <a:bodyPr/>
          <a:lstStyle/>
          <a:p>
            <a:endParaRPr lang="en-IN"/>
          </a:p>
        </p:txBody>
      </p:sp>
      <p:sp>
        <p:nvSpPr>
          <p:cNvPr id="13" name="Text 10"/>
          <p:cNvSpPr/>
          <p:nvPr/>
        </p:nvSpPr>
        <p:spPr>
          <a:xfrm>
            <a:off x="9922252" y="5277207"/>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Fraunces Extra Bold" pitchFamily="34" charset="0"/>
                <a:ea typeface="Fraunces Extra Bold" pitchFamily="34" charset="-122"/>
                <a:cs typeface="Fraunces Extra Bold" pitchFamily="34" charset="-120"/>
              </a:rPr>
              <a:t>2</a:t>
            </a:r>
            <a:endParaRPr lang="en-US" sz="2100" dirty="0"/>
          </a:p>
        </p:txBody>
      </p:sp>
      <p:sp>
        <p:nvSpPr>
          <p:cNvPr id="14" name="Text 11"/>
          <p:cNvSpPr/>
          <p:nvPr/>
        </p:nvSpPr>
        <p:spPr>
          <a:xfrm>
            <a:off x="6537484" y="6014204"/>
            <a:ext cx="5552718"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Module 4: Model Training &amp; Prediction</a:t>
            </a:r>
            <a:endParaRPr lang="en-US" sz="2200" dirty="0"/>
          </a:p>
        </p:txBody>
      </p:sp>
      <p:sp>
        <p:nvSpPr>
          <p:cNvPr id="15" name="Text 12"/>
          <p:cNvSpPr/>
          <p:nvPr/>
        </p:nvSpPr>
        <p:spPr>
          <a:xfrm>
            <a:off x="6537484" y="6504623"/>
            <a:ext cx="7041832"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Train classification models (Random Forest, XGBoost) on labeled data. Evaluate performance and export the best model.</a:t>
            </a:r>
            <a:endParaRPr lang="en-US" sz="1750" dirty="0"/>
          </a:p>
        </p:txBody>
      </p:sp>
      <p:pic>
        <p:nvPicPr>
          <p:cNvPr id="17" name="Picture 16">
            <a:extLst>
              <a:ext uri="{FF2B5EF4-FFF2-40B4-BE49-F238E27FC236}">
                <a16:creationId xmlns:a16="http://schemas.microsoft.com/office/drawing/2014/main" id="{48CA69E2-E13D-9809-0C89-3E9C217A1C1A}"/>
              </a:ext>
            </a:extLst>
          </p:cNvPr>
          <p:cNvPicPr>
            <a:picLocks noChangeAspect="1"/>
          </p:cNvPicPr>
          <p:nvPr/>
        </p:nvPicPr>
        <p:blipFill>
          <a:blip r:embed="rId3"/>
          <a:srcRect l="-15537" t="1233" r="81117" b="-1233"/>
          <a:stretch>
            <a:fillRect/>
          </a:stretch>
        </p:blipFill>
        <p:spPr>
          <a:xfrm>
            <a:off x="-1681632" y="2809280"/>
            <a:ext cx="6713034" cy="4736033"/>
          </a:xfrm>
          <a:prstGeom prst="rect">
            <a:avLst/>
          </a:prstGeom>
        </p:spPr>
      </p:pic>
      <p:sp>
        <p:nvSpPr>
          <p:cNvPr id="16" name="TextBox 15">
            <a:extLst>
              <a:ext uri="{FF2B5EF4-FFF2-40B4-BE49-F238E27FC236}">
                <a16:creationId xmlns:a16="http://schemas.microsoft.com/office/drawing/2014/main" id="{61B8C6D7-EBF0-44E2-FC2C-16DC95757641}"/>
              </a:ext>
            </a:extLst>
          </p:cNvPr>
          <p:cNvSpPr txBox="1"/>
          <p:nvPr/>
        </p:nvSpPr>
        <p:spPr>
          <a:xfrm>
            <a:off x="1349298" y="2870240"/>
            <a:ext cx="3682104" cy="4617481"/>
          </a:xfrm>
          <a:prstGeom prst="rect">
            <a:avLst/>
          </a:prstGeom>
          <a:noFill/>
          <a:ln w="57150">
            <a:solidFill>
              <a:schemeClr val="accent5">
                <a:lumMod val="75000"/>
              </a:schemeClr>
            </a:solidFill>
          </a:ln>
          <a:effectLst>
            <a:outerShdw blurRad="50800" dist="38100" dir="2700000" algn="tl" rotWithShape="0">
              <a:prstClr val="black">
                <a:alpha val="40000"/>
              </a:prstClr>
            </a:outerShdw>
          </a:effectLst>
        </p:spPr>
        <p:txBody>
          <a:bodyPr wrap="squar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379139" y="153458"/>
            <a:ext cx="5372851" cy="3417591"/>
          </a:xfrm>
          <a:prstGeom prst="rect">
            <a:avLst/>
          </a:prstGeom>
          <a:ln w="57150">
            <a:solidFill>
              <a:schemeClr val="accent5">
                <a:lumMod val="75000"/>
              </a:schemeClr>
            </a:solidFill>
          </a:ln>
        </p:spPr>
      </p:pic>
      <p:sp>
        <p:nvSpPr>
          <p:cNvPr id="3" name="Text 0"/>
          <p:cNvSpPr/>
          <p:nvPr/>
        </p:nvSpPr>
        <p:spPr>
          <a:xfrm>
            <a:off x="6023712" y="586978"/>
            <a:ext cx="7556421" cy="1417558"/>
          </a:xfrm>
          <a:prstGeom prst="rect">
            <a:avLst/>
          </a:prstGeom>
          <a:noFill/>
          <a:ln/>
        </p:spPr>
        <p:txBody>
          <a:bodyPr wrap="square" lIns="0" tIns="0" rIns="0" bIns="0" rtlCol="0" anchor="t"/>
          <a:lstStyle/>
          <a:p>
            <a:pPr>
              <a:lnSpc>
                <a:spcPts val="5550"/>
              </a:lnSpc>
            </a:pPr>
            <a:r>
              <a:rPr lang="en-IN" sz="3600" dirty="0">
                <a:solidFill>
                  <a:schemeClr val="tx2">
                    <a:lumMod val="75000"/>
                  </a:schemeClr>
                </a:solidFill>
                <a:latin typeface="Fraunces Extra Bold" panose="020B0604020202020204" charset="0"/>
              </a:rPr>
              <a:t>MODEL PERFORMANCE</a:t>
            </a:r>
            <a:endParaRPr lang="en-US" sz="3600" dirty="0">
              <a:solidFill>
                <a:schemeClr val="tx2">
                  <a:lumMod val="75000"/>
                </a:schemeClr>
              </a:solidFill>
              <a:latin typeface="Fraunces Extra Bold" panose="020B0604020202020204" charset="0"/>
            </a:endParaRPr>
          </a:p>
        </p:txBody>
      </p:sp>
      <p:sp>
        <p:nvSpPr>
          <p:cNvPr id="5" name="Text 1">
            <a:extLst>
              <a:ext uri="{FF2B5EF4-FFF2-40B4-BE49-F238E27FC236}">
                <a16:creationId xmlns:a16="http://schemas.microsoft.com/office/drawing/2014/main" id="{5D1D44D7-333E-3399-E5E8-A441DF781A81}"/>
              </a:ext>
            </a:extLst>
          </p:cNvPr>
          <p:cNvSpPr/>
          <p:nvPr/>
        </p:nvSpPr>
        <p:spPr>
          <a:xfrm>
            <a:off x="6264933" y="3243765"/>
            <a:ext cx="7556421" cy="4398857"/>
          </a:xfrm>
          <a:prstGeom prst="rect">
            <a:avLst/>
          </a:prstGeom>
          <a:noFill/>
          <a:ln/>
        </p:spPr>
        <p:txBody>
          <a:bodyPr wrap="square" lIns="0" tIns="0" rIns="0" bIns="0" rtlCol="0" anchor="t"/>
          <a:lstStyle/>
          <a:p>
            <a:pPr marL="285750" indent="-285750" algn="just">
              <a:lnSpc>
                <a:spcPct val="200000"/>
              </a:lnSpc>
              <a:buFont typeface="Wingdings" panose="05000000000000000000" pitchFamily="2" charset="2"/>
              <a:buChar char="Ø"/>
            </a:pPr>
            <a:r>
              <a:rPr lang="en-IN" dirty="0">
                <a:latin typeface="Fraunces Extra Bold" panose="020B0604020202020204" charset="0"/>
              </a:rPr>
              <a:t>Overall Accuracy: 98.48% OF XGBoost</a:t>
            </a:r>
          </a:p>
          <a:p>
            <a:pPr marL="285750" indent="-285750" algn="just">
              <a:lnSpc>
                <a:spcPct val="200000"/>
              </a:lnSpc>
              <a:buFont typeface="Wingdings" panose="05000000000000000000" pitchFamily="2" charset="2"/>
              <a:buChar char="Ø"/>
            </a:pPr>
            <a:r>
              <a:rPr lang="en-IN" dirty="0">
                <a:latin typeface="Fraunces Extra Bold" panose="020B0604020202020204" charset="0"/>
              </a:rPr>
              <a:t>  Key Results:</a:t>
            </a:r>
          </a:p>
          <a:p>
            <a:pPr marL="285750" indent="-285750" algn="just">
              <a:lnSpc>
                <a:spcPct val="200000"/>
              </a:lnSpc>
              <a:buFont typeface="Arial" panose="020B0604020202020204" pitchFamily="34" charset="0"/>
              <a:buChar char="•"/>
            </a:pPr>
            <a:r>
              <a:rPr lang="en-IN" dirty="0">
                <a:latin typeface="Fraunces Extra Bold" panose="020B0604020202020204" charset="0"/>
              </a:rPr>
              <a:t> ✓ Vehicular: 100% Precision &amp; Recall </a:t>
            </a:r>
          </a:p>
          <a:p>
            <a:pPr marL="285750" indent="-285750" algn="just">
              <a:lnSpc>
                <a:spcPct val="200000"/>
              </a:lnSpc>
              <a:buFont typeface="Arial" panose="020B0604020202020204" pitchFamily="34" charset="0"/>
              <a:buChar char="•"/>
            </a:pPr>
            <a:r>
              <a:rPr lang="en-IN" dirty="0">
                <a:latin typeface="Fraunces Extra Bold" panose="020B0604020202020204" charset="0"/>
              </a:rPr>
              <a:t>✓ Industrial: 100% Precision &amp; Recall</a:t>
            </a:r>
          </a:p>
          <a:p>
            <a:pPr marL="285750" indent="-285750" algn="just">
              <a:lnSpc>
                <a:spcPct val="200000"/>
              </a:lnSpc>
              <a:buFont typeface="Arial" panose="020B0604020202020204" pitchFamily="34" charset="0"/>
              <a:buChar char="•"/>
            </a:pPr>
            <a:r>
              <a:rPr lang="en-IN" dirty="0">
                <a:latin typeface="Fraunces Extra Bold" panose="020B0604020202020204" charset="0"/>
              </a:rPr>
              <a:t> ✓ Agricultural: 95% F1-Score </a:t>
            </a:r>
          </a:p>
          <a:p>
            <a:pPr marL="285750" indent="-285750" algn="just">
              <a:lnSpc>
                <a:spcPct val="200000"/>
              </a:lnSpc>
              <a:buFont typeface="Arial" panose="020B0604020202020204" pitchFamily="34" charset="0"/>
              <a:buChar char="•"/>
            </a:pPr>
            <a:r>
              <a:rPr lang="en-IN" dirty="0">
                <a:latin typeface="Fraunces Extra Bold" panose="020B0604020202020204" charset="0"/>
              </a:rPr>
              <a:t>✓ Burning: 97% F1-Score</a:t>
            </a:r>
          </a:p>
          <a:p>
            <a:pPr marL="285750" indent="-285750" algn="just">
              <a:lnSpc>
                <a:spcPct val="200000"/>
              </a:lnSpc>
              <a:buFont typeface="Arial" panose="020B0604020202020204" pitchFamily="34" charset="0"/>
              <a:buChar char="•"/>
            </a:pPr>
            <a:r>
              <a:rPr lang="en-IN" dirty="0">
                <a:latin typeface="Fraunces Extra Bold" panose="020B0604020202020204" charset="0"/>
              </a:rPr>
              <a:t> ✓ Natural: 99% F1-Score</a:t>
            </a:r>
          </a:p>
          <a:p>
            <a:pPr marL="285750" indent="-285750" algn="just">
              <a:lnSpc>
                <a:spcPct val="200000"/>
              </a:lnSpc>
              <a:buFont typeface="Arial" panose="020B0604020202020204" pitchFamily="34" charset="0"/>
              <a:buChar char="•"/>
            </a:pPr>
            <a:r>
              <a:rPr lang="en-IN" dirty="0">
                <a:latin typeface="Fraunces Extra Bold" panose="020B0604020202020204" charset="0"/>
              </a:rPr>
              <a:t>  Macro Average: 98% Precision, 100% Recall, 98% F1-Score</a:t>
            </a:r>
            <a:endParaRPr lang="en-US" sz="1750" dirty="0">
              <a:latin typeface="Fraunces Extra Bold" panose="020B0604020202020204" charset="0"/>
            </a:endParaRPr>
          </a:p>
        </p:txBody>
      </p:sp>
      <p:sp>
        <p:nvSpPr>
          <p:cNvPr id="7" name="TextBox 6">
            <a:extLst>
              <a:ext uri="{FF2B5EF4-FFF2-40B4-BE49-F238E27FC236}">
                <a16:creationId xmlns:a16="http://schemas.microsoft.com/office/drawing/2014/main" id="{A7CBC456-0255-AC05-4DE4-41B553D5517E}"/>
              </a:ext>
            </a:extLst>
          </p:cNvPr>
          <p:cNvSpPr txBox="1"/>
          <p:nvPr/>
        </p:nvSpPr>
        <p:spPr>
          <a:xfrm>
            <a:off x="6264933" y="1356517"/>
            <a:ext cx="5196469" cy="1887248"/>
          </a:xfrm>
          <a:prstGeom prst="rect">
            <a:avLst/>
          </a:prstGeom>
          <a:noFill/>
          <a:ln w="38100">
            <a:solidFill>
              <a:schemeClr val="bg2">
                <a:lumMod val="75000"/>
              </a:schemeClr>
            </a:solidFill>
          </a:ln>
        </p:spPr>
        <p:txBody>
          <a:bodyPr wrap="square" rtlCol="0">
            <a:spAutoFit/>
          </a:bodyPr>
          <a:lstStyle/>
          <a:p>
            <a:pPr marL="342900" indent="-342900">
              <a:lnSpc>
                <a:spcPct val="150000"/>
              </a:lnSpc>
              <a:buFont typeface="Wingdings" panose="05000000000000000000" pitchFamily="2" charset="2"/>
              <a:buChar char="Ø"/>
            </a:pPr>
            <a:r>
              <a:rPr lang="en-US" sz="2000" dirty="0">
                <a:latin typeface="Fraunces Extra Bold" panose="020B0604020202020204" charset="0"/>
              </a:rPr>
              <a:t>Models Accuracy:</a:t>
            </a:r>
          </a:p>
          <a:p>
            <a:pPr marL="285750" indent="-285750">
              <a:lnSpc>
                <a:spcPct val="150000"/>
              </a:lnSpc>
              <a:buFont typeface="Arial" panose="020B0604020202020204" pitchFamily="34" charset="0"/>
              <a:buChar char="•"/>
            </a:pPr>
            <a:r>
              <a:rPr lang="en-US" sz="2000" dirty="0">
                <a:solidFill>
                  <a:schemeClr val="tx2">
                    <a:lumMod val="75000"/>
                  </a:schemeClr>
                </a:solidFill>
                <a:latin typeface="Fraunces Extra Bold" panose="020B0604020202020204" charset="0"/>
              </a:rPr>
              <a:t>Decision Tree (~95%)</a:t>
            </a:r>
          </a:p>
          <a:p>
            <a:pPr marL="285750" indent="-285750">
              <a:lnSpc>
                <a:spcPct val="150000"/>
              </a:lnSpc>
              <a:buFont typeface="Arial" panose="020B0604020202020204" pitchFamily="34" charset="0"/>
              <a:buChar char="•"/>
            </a:pPr>
            <a:r>
              <a:rPr lang="en-US" sz="2000" dirty="0">
                <a:solidFill>
                  <a:schemeClr val="tx2">
                    <a:lumMod val="75000"/>
                  </a:schemeClr>
                </a:solidFill>
                <a:latin typeface="Fraunces Extra Bold" panose="020B0604020202020204" charset="0"/>
              </a:rPr>
              <a:t>Random Forest (~97%)</a:t>
            </a:r>
          </a:p>
          <a:p>
            <a:pPr marL="285750" indent="-285750">
              <a:lnSpc>
                <a:spcPct val="150000"/>
              </a:lnSpc>
              <a:buFont typeface="Arial" panose="020B0604020202020204" pitchFamily="34" charset="0"/>
              <a:buChar char="•"/>
            </a:pPr>
            <a:r>
              <a:rPr lang="en-US" sz="2000" dirty="0">
                <a:solidFill>
                  <a:schemeClr val="tx2">
                    <a:lumMod val="75000"/>
                  </a:schemeClr>
                </a:solidFill>
                <a:latin typeface="Fraunces Extra Bold" panose="020B0604020202020204" charset="0"/>
              </a:rPr>
              <a:t>XGBoost (~98%)</a:t>
            </a:r>
            <a:endParaRPr lang="en-IN" sz="2000" dirty="0">
              <a:solidFill>
                <a:schemeClr val="tx2">
                  <a:lumMod val="75000"/>
                </a:schemeClr>
              </a:solidFill>
              <a:latin typeface="Fraunces Extra Bold" panose="020B0604020202020204" charset="0"/>
            </a:endParaRPr>
          </a:p>
        </p:txBody>
      </p:sp>
      <p:pic>
        <p:nvPicPr>
          <p:cNvPr id="9" name="Picture 8">
            <a:extLst>
              <a:ext uri="{FF2B5EF4-FFF2-40B4-BE49-F238E27FC236}">
                <a16:creationId xmlns:a16="http://schemas.microsoft.com/office/drawing/2014/main" id="{940EE954-4663-8660-3D04-23856E1EB65A}"/>
              </a:ext>
            </a:extLst>
          </p:cNvPr>
          <p:cNvPicPr>
            <a:picLocks noChangeAspect="1"/>
          </p:cNvPicPr>
          <p:nvPr/>
        </p:nvPicPr>
        <p:blipFill>
          <a:blip r:embed="rId4"/>
          <a:stretch>
            <a:fillRect/>
          </a:stretch>
        </p:blipFill>
        <p:spPr>
          <a:xfrm>
            <a:off x="379140" y="3836020"/>
            <a:ext cx="5372851" cy="4114800"/>
          </a:xfrm>
          <a:prstGeom prst="rect">
            <a:avLst/>
          </a:prstGeom>
          <a:ln w="57150">
            <a:solidFill>
              <a:schemeClr val="accent5">
                <a:lumMod val="75000"/>
              </a:schemeClr>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3012883" y="321344"/>
            <a:ext cx="8138398"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Data Flow and ML Workflow</a:t>
            </a:r>
            <a:endParaRPr lang="en-US" sz="4450" dirty="0"/>
          </a:p>
        </p:txBody>
      </p:sp>
      <p:pic>
        <p:nvPicPr>
          <p:cNvPr id="7" name="Picture 6">
            <a:extLst>
              <a:ext uri="{FF2B5EF4-FFF2-40B4-BE49-F238E27FC236}">
                <a16:creationId xmlns:a16="http://schemas.microsoft.com/office/drawing/2014/main" id="{1DA13223-7DF8-DAAA-477C-ABCB20489E55}"/>
              </a:ext>
            </a:extLst>
          </p:cNvPr>
          <p:cNvPicPr>
            <a:picLocks noChangeAspect="1"/>
          </p:cNvPicPr>
          <p:nvPr/>
        </p:nvPicPr>
        <p:blipFill>
          <a:blip r:embed="rId3"/>
          <a:stretch>
            <a:fillRect/>
          </a:stretch>
        </p:blipFill>
        <p:spPr>
          <a:xfrm>
            <a:off x="3557239" y="1405054"/>
            <a:ext cx="8229600" cy="6503202"/>
          </a:xfrm>
          <a:prstGeom prst="rect">
            <a:avLst/>
          </a:prstGeom>
          <a:ln w="57150">
            <a:solidFill>
              <a:schemeClr val="accent5">
                <a:lumMod val="60000"/>
                <a:lumOff val="40000"/>
              </a:schemeClr>
            </a:solidFill>
          </a:ln>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50689" y="3778448"/>
            <a:ext cx="12601694" cy="670322"/>
          </a:xfrm>
          <a:prstGeom prst="rect">
            <a:avLst/>
          </a:prstGeom>
          <a:noFill/>
          <a:ln/>
        </p:spPr>
        <p:txBody>
          <a:bodyPr wrap="none" lIns="0" tIns="0" rIns="0" bIns="0" rtlCol="0" anchor="t"/>
          <a:lstStyle/>
          <a:p>
            <a:pPr marL="0" indent="0" algn="l">
              <a:lnSpc>
                <a:spcPts val="5250"/>
              </a:lnSpc>
              <a:buNone/>
            </a:pPr>
            <a:r>
              <a:rPr lang="en-US" sz="4200" b="1" dirty="0">
                <a:solidFill>
                  <a:srgbClr val="3B4540"/>
                </a:solidFill>
                <a:latin typeface="Fraunces Extra Bold" pitchFamily="34" charset="0"/>
                <a:ea typeface="Fraunces Extra Bold" pitchFamily="34" charset="-122"/>
                <a:cs typeface="Fraunces Extra Bold" pitchFamily="34" charset="-120"/>
              </a:rPr>
              <a:t>Milestone 3: Visualization &amp; Alerts (Weeks 5-6)</a:t>
            </a:r>
            <a:endParaRPr lang="en-US" sz="4200" dirty="0"/>
          </a:p>
        </p:txBody>
      </p:sp>
      <p:sp>
        <p:nvSpPr>
          <p:cNvPr id="4" name="Text 1"/>
          <p:cNvSpPr/>
          <p:nvPr/>
        </p:nvSpPr>
        <p:spPr>
          <a:xfrm>
            <a:off x="750689" y="4984909"/>
            <a:ext cx="4082772" cy="335161"/>
          </a:xfrm>
          <a:prstGeom prst="rect">
            <a:avLst/>
          </a:prstGeom>
          <a:noFill/>
          <a:ln/>
        </p:spPr>
        <p:txBody>
          <a:bodyPr wrap="none" lIns="0" tIns="0" rIns="0" bIns="0" rtlCol="0" anchor="t"/>
          <a:lstStyle/>
          <a:p>
            <a:pPr marL="0" indent="0" algn="l">
              <a:lnSpc>
                <a:spcPts val="2600"/>
              </a:lnSpc>
              <a:buNone/>
            </a:pPr>
            <a:r>
              <a:rPr lang="en-US" sz="2100" b="1" dirty="0">
                <a:solidFill>
                  <a:srgbClr val="3B4540"/>
                </a:solidFill>
                <a:latin typeface="Fraunces Extra Bold" pitchFamily="34" charset="0"/>
                <a:ea typeface="Fraunces Extra Bold" pitchFamily="34" charset="-122"/>
                <a:cs typeface="Fraunces Extra Bold" pitchFamily="34" charset="-120"/>
              </a:rPr>
              <a:t>Module 5: Geospatial Mapping</a:t>
            </a:r>
            <a:endParaRPr lang="en-US" sz="2100" dirty="0"/>
          </a:p>
        </p:txBody>
      </p:sp>
      <p:sp>
        <p:nvSpPr>
          <p:cNvPr id="5" name="Text 2"/>
          <p:cNvSpPr/>
          <p:nvPr/>
        </p:nvSpPr>
        <p:spPr>
          <a:xfrm>
            <a:off x="750689" y="5534501"/>
            <a:ext cx="6302812" cy="686514"/>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405449"/>
                </a:solidFill>
                <a:latin typeface="Nobile" pitchFamily="34" charset="0"/>
                <a:ea typeface="Nobile" pitchFamily="34" charset="-122"/>
                <a:cs typeface="Nobile" pitchFamily="34" charset="-120"/>
              </a:rPr>
              <a:t>Load predictions onto interactive maps.</a:t>
            </a:r>
            <a:endParaRPr lang="en-US" sz="1650" dirty="0"/>
          </a:p>
        </p:txBody>
      </p:sp>
      <p:sp>
        <p:nvSpPr>
          <p:cNvPr id="6" name="Text 3"/>
          <p:cNvSpPr/>
          <p:nvPr/>
        </p:nvSpPr>
        <p:spPr>
          <a:xfrm>
            <a:off x="743069" y="5952767"/>
            <a:ext cx="6302812" cy="343257"/>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405449"/>
                </a:solidFill>
                <a:latin typeface="Nobile" pitchFamily="34" charset="0"/>
                <a:ea typeface="Nobile" pitchFamily="34" charset="-122"/>
                <a:cs typeface="Nobile" pitchFamily="34" charset="-120"/>
              </a:rPr>
              <a:t>Create dynamic heatmaps and source-specific markers.</a:t>
            </a:r>
            <a:endParaRPr lang="en-US" sz="1650" dirty="0"/>
          </a:p>
        </p:txBody>
      </p:sp>
      <p:sp>
        <p:nvSpPr>
          <p:cNvPr id="7" name="Text 4"/>
          <p:cNvSpPr/>
          <p:nvPr/>
        </p:nvSpPr>
        <p:spPr>
          <a:xfrm>
            <a:off x="750689" y="6369797"/>
            <a:ext cx="6302812" cy="343257"/>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405449"/>
                </a:solidFill>
                <a:latin typeface="Nobile" pitchFamily="34" charset="0"/>
                <a:ea typeface="Nobile" pitchFamily="34" charset="-122"/>
                <a:cs typeface="Nobile" pitchFamily="34" charset="-120"/>
              </a:rPr>
              <a:t>Visualize high-risk zones and allow filtering.</a:t>
            </a:r>
            <a:endParaRPr lang="en-US" sz="1650" dirty="0"/>
          </a:p>
        </p:txBody>
      </p:sp>
      <p:sp>
        <p:nvSpPr>
          <p:cNvPr id="8" name="Text 5"/>
          <p:cNvSpPr/>
          <p:nvPr/>
        </p:nvSpPr>
        <p:spPr>
          <a:xfrm>
            <a:off x="7584519" y="4984909"/>
            <a:ext cx="5525572" cy="335161"/>
          </a:xfrm>
          <a:prstGeom prst="rect">
            <a:avLst/>
          </a:prstGeom>
          <a:noFill/>
          <a:ln/>
        </p:spPr>
        <p:txBody>
          <a:bodyPr wrap="none" lIns="0" tIns="0" rIns="0" bIns="0" rtlCol="0" anchor="t"/>
          <a:lstStyle/>
          <a:p>
            <a:pPr marL="0" indent="0" algn="l">
              <a:lnSpc>
                <a:spcPts val="2600"/>
              </a:lnSpc>
              <a:buNone/>
            </a:pPr>
            <a:r>
              <a:rPr lang="en-US" sz="2100" b="1" dirty="0">
                <a:solidFill>
                  <a:srgbClr val="3B4540"/>
                </a:solidFill>
                <a:latin typeface="Fraunces Extra Bold" pitchFamily="34" charset="0"/>
                <a:ea typeface="Fraunces Extra Bold" pitchFamily="34" charset="-122"/>
                <a:cs typeface="Fraunces Extra Bold" pitchFamily="34" charset="-120"/>
              </a:rPr>
              <a:t>Module 6: Real-Time Dashboard &amp; Alerts</a:t>
            </a:r>
            <a:endParaRPr lang="en-US" sz="2100" dirty="0"/>
          </a:p>
        </p:txBody>
      </p:sp>
      <p:sp>
        <p:nvSpPr>
          <p:cNvPr id="9" name="Text 6"/>
          <p:cNvSpPr/>
          <p:nvPr/>
        </p:nvSpPr>
        <p:spPr>
          <a:xfrm>
            <a:off x="7584519" y="5534501"/>
            <a:ext cx="6302812" cy="343257"/>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405449"/>
                </a:solidFill>
                <a:latin typeface="Nobile" pitchFamily="34" charset="0"/>
                <a:ea typeface="Nobile" pitchFamily="34" charset="-122"/>
                <a:cs typeface="Nobile" pitchFamily="34" charset="-120"/>
              </a:rPr>
              <a:t>Build an interactive dashboard using Streamlit.</a:t>
            </a:r>
            <a:endParaRPr lang="en-US" sz="1650" dirty="0"/>
          </a:p>
        </p:txBody>
      </p:sp>
      <p:sp>
        <p:nvSpPr>
          <p:cNvPr id="10" name="Text 7"/>
          <p:cNvSpPr/>
          <p:nvPr/>
        </p:nvSpPr>
        <p:spPr>
          <a:xfrm>
            <a:off x="7584519" y="5952768"/>
            <a:ext cx="6302812" cy="343257"/>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405449"/>
                </a:solidFill>
                <a:latin typeface="Nobile" pitchFamily="34" charset="0"/>
                <a:ea typeface="Nobile" pitchFamily="34" charset="-122"/>
                <a:cs typeface="Nobile" pitchFamily="34" charset="-120"/>
              </a:rPr>
              <a:t>Display predictions, alerts, trends, and source distribution.</a:t>
            </a:r>
            <a:endParaRPr lang="en-US" sz="1650" dirty="0"/>
          </a:p>
        </p:txBody>
      </p:sp>
      <p:sp>
        <p:nvSpPr>
          <p:cNvPr id="11" name="Text 8"/>
          <p:cNvSpPr/>
          <p:nvPr/>
        </p:nvSpPr>
        <p:spPr>
          <a:xfrm>
            <a:off x="7584519" y="6371034"/>
            <a:ext cx="6302812" cy="343257"/>
          </a:xfrm>
          <a:prstGeom prst="rect">
            <a:avLst/>
          </a:prstGeom>
          <a:noFill/>
          <a:ln/>
        </p:spPr>
        <p:txBody>
          <a:bodyPr wrap="none" lIns="0" tIns="0" rIns="0" bIns="0" rtlCol="0" anchor="t"/>
          <a:lstStyle/>
          <a:p>
            <a:pPr marL="342900" indent="-342900">
              <a:lnSpc>
                <a:spcPts val="2700"/>
              </a:lnSpc>
              <a:buSzPct val="100000"/>
              <a:buChar char="•"/>
            </a:pPr>
            <a:r>
              <a:rPr lang="en-US" sz="1650" dirty="0">
                <a:latin typeface="Nobile" panose="020B0604020202020204" charset="0"/>
              </a:rPr>
              <a:t>CSV, Excel, PDF reports with embedded charts</a:t>
            </a:r>
          </a:p>
        </p:txBody>
      </p:sp>
      <p:pic>
        <p:nvPicPr>
          <p:cNvPr id="13" name="Picture 12">
            <a:extLst>
              <a:ext uri="{FF2B5EF4-FFF2-40B4-BE49-F238E27FC236}">
                <a16:creationId xmlns:a16="http://schemas.microsoft.com/office/drawing/2014/main" id="{2E052ABF-9056-39B7-28BD-1D953644C338}"/>
              </a:ext>
            </a:extLst>
          </p:cNvPr>
          <p:cNvPicPr>
            <a:picLocks noChangeAspect="1"/>
          </p:cNvPicPr>
          <p:nvPr/>
        </p:nvPicPr>
        <p:blipFill>
          <a:blip r:embed="rId3"/>
          <a:stretch>
            <a:fillRect/>
          </a:stretch>
        </p:blipFill>
        <p:spPr>
          <a:xfrm>
            <a:off x="629711" y="96928"/>
            <a:ext cx="6416170" cy="3644633"/>
          </a:xfrm>
          <a:prstGeom prst="rect">
            <a:avLst/>
          </a:prstGeom>
          <a:ln w="57150">
            <a:solidFill>
              <a:schemeClr val="accent5">
                <a:lumMod val="60000"/>
                <a:lumOff val="40000"/>
              </a:schemeClr>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536C7973-13E1-59BA-84D5-C535B459D205}"/>
              </a:ext>
            </a:extLst>
          </p:cNvPr>
          <p:cNvPicPr>
            <a:picLocks noChangeAspect="1"/>
          </p:cNvPicPr>
          <p:nvPr/>
        </p:nvPicPr>
        <p:blipFill>
          <a:blip r:embed="rId4"/>
          <a:stretch>
            <a:fillRect/>
          </a:stretch>
        </p:blipFill>
        <p:spPr>
          <a:xfrm>
            <a:off x="7315200" y="133815"/>
            <a:ext cx="6583265" cy="3644633"/>
          </a:xfrm>
          <a:prstGeom prst="rect">
            <a:avLst/>
          </a:prstGeom>
          <a:ln w="57150">
            <a:solidFill>
              <a:schemeClr val="accent5">
                <a:lumMod val="60000"/>
                <a:lumOff val="40000"/>
              </a:schemeClr>
            </a:solidFill>
          </a:ln>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6CFDB6ED-292E-BDDB-E832-66ECCEFBBC09}"/>
            </a:ext>
          </a:extLst>
        </p:cNvPr>
        <p:cNvGrpSpPr/>
        <p:nvPr/>
      </p:nvGrpSpPr>
      <p:grpSpPr>
        <a:xfrm>
          <a:off x="0" y="0"/>
          <a:ext cx="0" cy="0"/>
          <a:chOff x="0" y="0"/>
          <a:chExt cx="0" cy="0"/>
        </a:xfrm>
      </p:grpSpPr>
    </p:spTree>
    <p:extLst>
      <p:ext uri="{BB962C8B-B14F-4D97-AF65-F5344CB8AC3E}">
        <p14:creationId xmlns:p14="http://schemas.microsoft.com/office/powerpoint/2010/main" val="1049588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9D3DA2-59A8-00E9-41A2-506F9D1D8ED8}"/>
              </a:ext>
            </a:extLst>
          </p:cNvPr>
          <p:cNvSpPr txBox="1"/>
          <p:nvPr/>
        </p:nvSpPr>
        <p:spPr>
          <a:xfrm>
            <a:off x="4795024" y="3367669"/>
            <a:ext cx="8274205" cy="1200329"/>
          </a:xfrm>
          <a:prstGeom prst="rect">
            <a:avLst/>
          </a:prstGeom>
          <a:noFill/>
          <a:effectLst>
            <a:outerShdw blurRad="50800" dist="38100" algn="l" rotWithShape="0">
              <a:prstClr val="black">
                <a:alpha val="40000"/>
              </a:prstClr>
            </a:outerShdw>
            <a:reflection blurRad="6350" stA="52000" endA="300" endPos="35000" dir="5400000" sy="-100000" algn="bl" rotWithShape="0"/>
            <a:softEdge rad="12700"/>
          </a:effectLst>
        </p:spPr>
        <p:txBody>
          <a:bodyPr wrap="square" rtlCol="0">
            <a:spAutoFit/>
          </a:bodyPr>
          <a:lstStyle/>
          <a:p>
            <a:r>
              <a:rPr lang="en-US" sz="7200" dirty="0">
                <a:latin typeface="Fraunces Extra Bold" panose="020B0604020202020204" charset="0"/>
              </a:rPr>
              <a:t>Thank you</a:t>
            </a:r>
            <a:endParaRPr lang="en-IN" sz="7200" dirty="0">
              <a:latin typeface="Fraunces Extra Bold" panose="020B0604020202020204" charset="0"/>
            </a:endParaRPr>
          </a:p>
        </p:txBody>
      </p:sp>
    </p:spTree>
    <p:extLst>
      <p:ext uri="{BB962C8B-B14F-4D97-AF65-F5344CB8AC3E}">
        <p14:creationId xmlns:p14="http://schemas.microsoft.com/office/powerpoint/2010/main" val="146468951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2778</TotalTime>
  <Words>578</Words>
  <Application>Microsoft Office PowerPoint</Application>
  <PresentationFormat>Custom</PresentationFormat>
  <Paragraphs>68</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Wingdings</vt:lpstr>
      <vt:lpstr>Nobile</vt:lpstr>
      <vt:lpstr>Century Gothic</vt:lpstr>
      <vt:lpstr>Wingdings 3</vt:lpstr>
      <vt:lpstr>Fraunces Extra Bold</vt:lpstr>
      <vt:lpstr>Arial</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Mahek Rana</dc:creator>
  <cp:lastModifiedBy>Mahek Rana</cp:lastModifiedBy>
  <cp:revision>4</cp:revision>
  <dcterms:created xsi:type="dcterms:W3CDTF">2026-01-02T10:51:51Z</dcterms:created>
  <dcterms:modified xsi:type="dcterms:W3CDTF">2026-01-05T11:19:21Z</dcterms:modified>
</cp:coreProperties>
</file>